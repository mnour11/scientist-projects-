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clusive Sans" charset="1" panose="00000000000000000000"/>
      <p:regular r:id="rId17"/>
    </p:embeddedFont>
    <p:embeddedFont>
      <p:font typeface="Lovelace Text" charset="1" panose="00000500000000000000"/>
      <p:regular r:id="rId18"/>
    </p:embeddedFont>
    <p:embeddedFont>
      <p:font typeface="Inclusive Sans Bold" charset="1" panose="00000000000000000000"/>
      <p:regular r:id="rId19"/>
    </p:embeddedFont>
    <p:embeddedFont>
      <p:font typeface="Lovelace Text Bold" charset="1" panose="000007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6038850"/>
            <a:chOff x="0" y="0"/>
            <a:chExt cx="1008163" cy="677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8163" cy="677092"/>
            </a:xfrm>
            <a:custGeom>
              <a:avLst/>
              <a:gdLst/>
              <a:ahLst/>
              <a:cxnLst/>
              <a:rect r="r" b="b" t="t" l="l"/>
              <a:pathLst>
                <a:path h="677092" w="1008163">
                  <a:moveTo>
                    <a:pt x="0" y="0"/>
                  </a:moveTo>
                  <a:lnTo>
                    <a:pt x="1008163" y="0"/>
                  </a:lnTo>
                  <a:lnTo>
                    <a:pt x="1008163" y="677092"/>
                  </a:lnTo>
                  <a:lnTo>
                    <a:pt x="0" y="677092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038850"/>
            <a:ext cx="7191375" cy="3581400"/>
            <a:chOff x="0" y="0"/>
            <a:chExt cx="1185479" cy="5903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5479" cy="590384"/>
            </a:xfrm>
            <a:custGeom>
              <a:avLst/>
              <a:gdLst/>
              <a:ahLst/>
              <a:cxnLst/>
              <a:rect r="r" b="b" t="t" l="l"/>
              <a:pathLst>
                <a:path h="590384" w="1185479">
                  <a:moveTo>
                    <a:pt x="0" y="0"/>
                  </a:moveTo>
                  <a:lnTo>
                    <a:pt x="1185479" y="0"/>
                  </a:lnTo>
                  <a:lnTo>
                    <a:pt x="1185479" y="590384"/>
                  </a:lnTo>
                  <a:lnTo>
                    <a:pt x="0" y="590384"/>
                  </a:lnTo>
                  <a:close/>
                </a:path>
              </a:pathLst>
            </a:custGeom>
            <a:blipFill>
              <a:blip r:embed="rId3"/>
              <a:stretch>
                <a:fillRect l="-177" t="0" r="-17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7115189"/>
            <a:ext cx="7962900" cy="1428723"/>
            <a:chOff x="0" y="0"/>
            <a:chExt cx="10617200" cy="19049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106172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Data-Driven Insights into Customer Satisfaction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411146"/>
              <a:ext cx="106172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Presented by: [Mohamed Nour-Eldien]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847725"/>
            <a:ext cx="8324850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00"/>
              </a:lnSpc>
            </a:pPr>
            <a:r>
              <a:rPr lang="en-US" sz="105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Decoding Amazon Ratings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t="0" r="-12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326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sz="84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Introduction &amp; Project Overview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819528"/>
            <a:ext cx="5448300" cy="2800722"/>
            <a:chOff x="0" y="0"/>
            <a:chExt cx="7264400" cy="37342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199078"/>
              <a:ext cx="72644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This project aims to </a:t>
              </a:r>
              <a:r>
                <a:rPr lang="en-US" b="true" sz="2199">
                  <a:solidFill>
                    <a:srgbClr val="D4DCE6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predict product ratings</a:t>
              </a: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while identifying factors that drive customer satisfaction on Amazon.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Understanding the drivers behind Amazon product ratings and satisfaction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t="0" r="-12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The Business Problem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819528"/>
            <a:ext cx="5448300" cy="2800722"/>
            <a:chOff x="0" y="0"/>
            <a:chExt cx="7264400" cy="37342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199078"/>
              <a:ext cx="72644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Sellers often struggle to identify which factors truly drive high ratings on Amazon.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Understanding key factors influencing Amazon product ratings and seller challenges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t="0" r="-12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Dataset Overview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819528"/>
            <a:ext cx="5448300" cy="2800722"/>
            <a:chOff x="0" y="0"/>
            <a:chExt cx="7264400" cy="37342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199078"/>
              <a:ext cx="72644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This dataset includes thousands of Amazon products and essential features for modeling.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Understanding the dataset characteristics and preparation steps for analysis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0100"/>
            <a:ext cx="9763125" cy="194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4"/>
              </a:lnSpc>
            </a:pPr>
            <a:r>
              <a:rPr lang="en-US" sz="7474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Dataset Preparation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6886575" cy="2284656"/>
            <a:chOff x="0" y="0"/>
            <a:chExt cx="9182100" cy="30462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90290"/>
              <a:ext cx="91821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Removed currency symbols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Handled missing values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Split category features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Engineered new features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Key Steps in Data Cleaning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4248150"/>
            <a:ext cx="18288000" cy="6038850"/>
            <a:chOff x="0" y="0"/>
            <a:chExt cx="2178497" cy="71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8497" cy="719358"/>
            </a:xfrm>
            <a:custGeom>
              <a:avLst/>
              <a:gdLst/>
              <a:ahLst/>
              <a:cxnLst/>
              <a:rect r="r" b="b" t="t" l="l"/>
              <a:pathLst>
                <a:path h="719358" w="2178497">
                  <a:moveTo>
                    <a:pt x="0" y="0"/>
                  </a:moveTo>
                  <a:lnTo>
                    <a:pt x="2178497" y="0"/>
                  </a:lnTo>
                  <a:lnTo>
                    <a:pt x="2178497" y="719358"/>
                  </a:lnTo>
                  <a:lnTo>
                    <a:pt x="0" y="719358"/>
                  </a:lnTo>
                  <a:close/>
                </a:path>
              </a:pathLst>
            </a:custGeom>
            <a:blipFill>
              <a:blip r:embed="rId2"/>
              <a:stretch>
                <a:fillRect l="0" t="-5268" r="0" b="-526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t="0" r="-12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Modeling Approach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7276728"/>
            <a:ext cx="5448300" cy="2343522"/>
            <a:chOff x="0" y="0"/>
            <a:chExt cx="7264400" cy="31246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589478"/>
              <a:ext cx="72644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We employed both </a:t>
              </a:r>
              <a:r>
                <a:rPr lang="en-US" b="true" sz="2199">
                  <a:solidFill>
                    <a:srgbClr val="D4DCE6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Linear Regression</a:t>
              </a: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and </a:t>
              </a:r>
              <a:r>
                <a:rPr lang="en-US" b="true" sz="2199">
                  <a:solidFill>
                    <a:srgbClr val="D4DCE6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Random Forest Classifier</a:t>
              </a: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to enhance prediction accuracy.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Exploring strategies to build a predictive model for ratings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t="0" r="-12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Model Evaluation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429003"/>
            <a:ext cx="5448300" cy="3191247"/>
            <a:chOff x="0" y="0"/>
            <a:chExt cx="7264400" cy="42549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199078"/>
              <a:ext cx="72644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The Random Forest model achieved an accuracy of approximately 80%, significantly outperforming the baseline model.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Assessing the effectiveness of our predictive modeling approach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1562141"/>
            <a:ext cx="6886575" cy="2181171"/>
            <a:chOff x="0" y="0"/>
            <a:chExt cx="9182100" cy="290822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2310"/>
              <a:ext cx="91821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rtl="true" marL="0" indent="0" lvl="0">
                <a:lnSpc>
                  <a:spcPts val="3079"/>
                </a:lnSpc>
              </a:pPr>
              <a:r>
                <a:rPr lang="ar-EG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  <a:rtl val="true"/>
                </a:rPr>
                <a:t>"</a:t>
              </a: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Strategy: Amazon leverages Electronics as a 'Volume Driver' (highest product inventory and largest monetary discounts)</a:t>
              </a:r>
              <a:r>
                <a:rPr lang="ar-EG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  <a:rtl val="true"/>
                </a:rPr>
                <a:t>."</a:t>
              </a:r>
            </a:p>
            <a:p>
              <a:pPr algn="ctr" marL="0" indent="0" lvl="0">
                <a:lnSpc>
                  <a:spcPts val="307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0F4F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Strategy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55817" y="1561821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0F4F8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970680"/>
            <a:chOff x="0" y="0"/>
            <a:chExt cx="9182100" cy="262757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092356"/>
              <a:ext cx="91821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"Best Value: The 'Home Improvement' category offers the highest discount percentage."</a:t>
              </a:r>
            </a:p>
            <a:p>
              <a:pPr algn="l" marL="0" indent="0" lvl="0">
                <a:lnSpc>
                  <a:spcPts val="307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0F4F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Best Value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55817" y="425923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0F4F8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34675" y="6934200"/>
            <a:ext cx="6886575" cy="2573020"/>
            <a:chOff x="0" y="0"/>
            <a:chExt cx="9182100" cy="343069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54075"/>
              <a:ext cx="9182100" cy="257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"Customer Satisfaction: Ratings are highly stable around 4.0, with no underperforming categories, indicating consistent product quality regardless of the discount levels."</a:t>
              </a:r>
            </a:p>
            <a:p>
              <a:pPr algn="l" marL="0" indent="0" lvl="0">
                <a:lnSpc>
                  <a:spcPts val="3079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5817" y="694528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0F4F8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4248150"/>
            <a:ext cx="8991600" cy="6038850"/>
            <a:chOff x="0" y="0"/>
            <a:chExt cx="1335860" cy="8971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5860" cy="897177"/>
            </a:xfrm>
            <a:custGeom>
              <a:avLst/>
              <a:gdLst/>
              <a:ahLst/>
              <a:cxnLst/>
              <a:rect r="r" b="b" t="t" l="l"/>
              <a:pathLst>
                <a:path h="897177" w="1335860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66750" y="819150"/>
            <a:ext cx="832485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Key Insights on 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34675" y="7155473"/>
            <a:ext cx="688657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spc="-60">
                <a:solidFill>
                  <a:srgbClr val="FFFFFF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Customer Satisfaction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t="0" r="-12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28675"/>
            <a:ext cx="6886575" cy="220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5"/>
              </a:lnSpc>
            </a:pPr>
            <a:r>
              <a:rPr lang="en-US" sz="8475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Business Implications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429003"/>
            <a:ext cx="5448300" cy="3191247"/>
            <a:chOff x="0" y="0"/>
            <a:chExt cx="7264400" cy="42549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199078"/>
              <a:ext cx="72644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Optimizing discount levels and </a:t>
              </a:r>
              <a:r>
                <a:rPr lang="en-US" b="true" sz="2199">
                  <a:solidFill>
                    <a:srgbClr val="D4DCE6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encouraging reviews</a:t>
              </a: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can significantly enhance customer satisfaction and ratings.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Translating insights into actionable strategies for Amazon sellers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552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t="0" r="-12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Conclusion &amp; Next Steps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819528"/>
            <a:ext cx="5448300" cy="2800722"/>
            <a:chOff x="0" y="0"/>
            <a:chExt cx="7264400" cy="37342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199078"/>
              <a:ext cx="72644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The predictive model clarifies drivers of </a:t>
              </a:r>
              <a:r>
                <a:rPr lang="en-US" b="true" sz="2199">
                  <a:solidFill>
                    <a:srgbClr val="D4DCE6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customer satisfaction</a:t>
              </a: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on Amazon, guiding actionable strategies.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Summarizing insights and outlining future directions for our project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-125" t="0" r="-12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0F4F8"/>
                </a:solidFill>
                <a:latin typeface="Lovelace Text"/>
                <a:ea typeface="Lovelace Text"/>
                <a:cs typeface="Lovelace Text"/>
                <a:sym typeface="Lovelace Text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7210053"/>
            <a:ext cx="5448300" cy="2410197"/>
            <a:chOff x="0" y="0"/>
            <a:chExt cx="7264400" cy="32135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19907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4DCE6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Your insights and queries are valuable for further discussion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AABED8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We appreciate your attention and invite any questions or feedback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Decoding Amazon Ratings</dc:description>
  <dc:identifier>DAHAqM4U9ec</dc:identifier>
  <dcterms:modified xsi:type="dcterms:W3CDTF">2011-08-01T06:04:30Z</dcterms:modified>
  <cp:revision>1</cp:revision>
  <dc:title>Presentation - Decoding Amazon Ratings</dc:title>
</cp:coreProperties>
</file>